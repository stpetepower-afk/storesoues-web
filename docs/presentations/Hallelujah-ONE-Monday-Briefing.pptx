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Set tone: this is not a construction pitch — it is an invitation to partner in building lasting community institutions. Confirm the meeting date/time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vision reframes the work from real estate to belonging. Land each of the three pillars — Dignity, Capital, Impact — with one concrete example from your own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slide. The 86-acre figure references the publicly reported Historic Gas Plant District redevelopment footprint — confirm the current figure against the latest city/developer materials before presenting. The point is timing: the window to secure a community stake is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engines reinforce each other: infrastructure revenue and lending fund housing; counseling converts housing into ownership; the nonprofit makes it all fundable. Emphasize the connections, not just the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matters: the institutional backbone comes first because it unlocks the cheaper, mission-aligned capital that funds everything after. Frame each phase as de-risking the next. Populate specific dollar targets once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roadmap is drawn directly from the tactical checklist. The near-term items (1023, NACA, FCLF) are the credibility-builders — they show partners the institution is real and moving. The 4-plex is the tangible proof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impact human. If you have even one real story of a family or a specific number, substitute it here — a single true story outperforms three abstractions.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ask explicit and easy to say yes to. Name the specific next step you want from the people in the room — a follow-up meeting, an intro, a commitment of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conviction and the invitation to partner. The Living Compass is the operating discipline — it signals that this is a measured, accountable institution, not just aspiration.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7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035040" cy="6035040"/>
          </a:xfrm>
          <a:prstGeom prst="ellipse">
            <a:avLst/>
          </a:prstGeom>
          <a:ln w="15875">
            <a:solidFill>
              <a:srgbClr val="C6972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1371600"/>
            <a:ext cx="4023360" cy="4023360"/>
          </a:xfrm>
          <a:prstGeom prst="ellipse">
            <a:avLst/>
          </a:prstGeom>
          <a:ln w="12700">
            <a:solidFill>
              <a:srgbClr val="C6972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48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HALLELUJAH ONE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41248" y="312724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4C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Faith. Capital. Community. Built as one.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41248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stakeholder briefing on institutional infrastructure and community wealth-building in St. Petersburg's Historic Gas Plant District.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5806440"/>
            <a:ext cx="2926080" cy="0"/>
          </a:xfrm>
          <a:prstGeom prst="line">
            <a:avLst/>
          </a:prstGeom>
          <a:noFill/>
          <a:ln w="19050">
            <a:solidFill>
              <a:srgbClr val="C697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Hallelujah Ministries  ·  Monday Briefing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6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build buildings. We build belonging.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Hallelujah ONE unites ministry, capital strategy, and technical precision into a single engine for community wealth. Every asset we steward — housing, infrastructure, financial guidance — is designed to inspire immediate belief and durable partnership, and to return dignity to the people it serves.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20840" y="2011680"/>
            <a:ext cx="4617720" cy="13716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2700">
            <a:solidFill>
              <a:srgbClr val="E4DACB"/>
            </a:solidFill>
            <a:prstDash val="solid"/>
          </a:ln>
          <a:effectLst>
            <a:outerShdw sx="100000" sy="100000" kx="0" ky="0" algn="bl" rotWithShape="0" blurRad="76200" dist="25400" dir="5400000">
              <a:srgbClr val="C9BBAA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0" y="2267712"/>
            <a:ext cx="822960" cy="82296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2267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55280" y="22128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Dignity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55280" y="26334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regional aesthetic with human warmth in every space and touchpoint.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20840" y="3547872"/>
            <a:ext cx="4617720" cy="13716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2700">
            <a:solidFill>
              <a:srgbClr val="E4DACB"/>
            </a:solidFill>
            <a:prstDash val="solid"/>
          </a:ln>
          <a:effectLst>
            <a:outerShdw sx="100000" sy="100000" kx="0" ky="0" algn="bl" rotWithShape="0" blurRad="76200" dist="25400" dir="5400000">
              <a:srgbClr val="C9BBAA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0" y="3803904"/>
            <a:ext cx="822960" cy="82296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38039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55280" y="3749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955280" y="41696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funding strategy — nonprofit, lending, and mission-aligned investment.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5084064"/>
            <a:ext cx="4617720" cy="13716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2700">
            <a:solidFill>
              <a:srgbClr val="E4DACB"/>
            </a:solidFill>
            <a:prstDash val="solid"/>
          </a:ln>
          <a:effectLst>
            <a:outerShdw sx="100000" sy="100000" kx="0" ky="0" algn="bl" rotWithShape="0" blurRad="76200" dist="25400" dir="5400000">
              <a:srgbClr val="C9BBAA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0" y="5340096"/>
            <a:ext cx="822960" cy="82296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53400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55280" y="52852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955280" y="570585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 for families, not just square footage delivered.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7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98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C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Historic Gas Plant District, St. Petersburg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7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generational redevelopment is underway on land that was once home to a thriving Black community. Hallelujah ONE is positioned to ensure the next chapter returns ownership, wealth, and dignity to the families with the deepest roots here.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3A1D32"/>
          </a:solidFill>
          <a:ln w="12700">
            <a:solidFill>
              <a:srgbClr val="C697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480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4C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&amp; Active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alignment with the district's development trajectory is already established.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0" y="1874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6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 acres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76288" y="25328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district land in active redevelopment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0" y="3246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6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876288" y="39044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bridging downtown &amp; historic neighborhoods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0" y="4617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6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876288" y="52760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to secure a community stake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6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connected engines, one institution.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BF8F2"/>
          </a:solidFill>
          <a:ln w="12700">
            <a:solidFill>
              <a:srgbClr val="E4DACB"/>
            </a:solidFill>
            <a:prstDash val="solid"/>
          </a:ln>
          <a:effectLst>
            <a:outerShdw sx="100000" sy="100000" kx="0" ky="0" algn="bl" rotWithShape="0" blurRad="88900" dist="25400" dir="5400000">
              <a:srgbClr val="C9BBAA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86000"/>
            <a:ext cx="868680" cy="86868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94560" y="23134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 &amp; Ownership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94560" y="2807208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and steward multi-family assets — beginning with a 4-plex strategy — that build equity for resident families.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37960" y="19659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BF8F2"/>
          </a:solidFill>
          <a:ln w="12700">
            <a:solidFill>
              <a:srgbClr val="E4DACB"/>
            </a:solidFill>
            <a:prstDash val="solid"/>
          </a:ln>
          <a:effectLst>
            <a:outerShdw sx="100000" sy="100000" kx="0" ky="0" algn="bl" rotWithShape="0" blurRad="88900" dist="25400" dir="5400000">
              <a:srgbClr val="C9BBAA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0" y="2286000"/>
            <a:ext cx="868680" cy="86868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909560" y="23134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 Infrastructure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09560" y="2807208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Supercharger and EV capacity as a revenue anchor and a signal of a forward-looking, dignified district.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BF8F2"/>
          </a:solidFill>
          <a:ln w="12700">
            <a:solidFill>
              <a:srgbClr val="E4DACB"/>
            </a:solidFill>
            <a:prstDash val="solid"/>
          </a:ln>
          <a:effectLst>
            <a:outerShdw sx="100000" sy="100000" kx="0" ky="0" algn="bl" rotWithShape="0" blurRad="88900" dist="25400" dir="5400000">
              <a:srgbClr val="C9BBAA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43000" y="4754880"/>
            <a:ext cx="868680" cy="86868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754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94560" y="4782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Empowerment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194560" y="5276088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NACA-certified homeownership counseling that turns renters into owners and owners into stewards.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37960" y="44348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BF8F2"/>
          </a:solidFill>
          <a:ln w="12700">
            <a:solidFill>
              <a:srgbClr val="E4DACB"/>
            </a:solidFill>
            <a:prstDash val="solid"/>
          </a:ln>
          <a:effectLst>
            <a:outerShdw sx="100000" sy="100000" kx="0" ky="0" algn="bl" rotWithShape="0" blurRad="88900" dist="25400" dir="5400000">
              <a:srgbClr val="C9BBAA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4754880"/>
            <a:ext cx="868680" cy="86868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4754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909560" y="4782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Backbone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909560" y="5276088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501(c)(3) nonprofit (IRS Form 1023) and lending partnerships (FCLF) that make the whole model fundable.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Strategy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6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mission-aligned, and built to de-risk each phase.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429000" cy="3886200"/>
          </a:xfrm>
          <a:prstGeom prst="roundRect">
            <a:avLst>
              <a:gd name="adj" fmla="val 2667"/>
            </a:avLst>
          </a:prstGeom>
          <a:solidFill>
            <a:srgbClr val="FBF8F2"/>
          </a:solidFill>
          <a:ln w="12700">
            <a:solidFill>
              <a:srgbClr val="E4DACB"/>
            </a:solidFill>
            <a:prstDash val="solid"/>
          </a:ln>
          <a:effectLst>
            <a:outerShdw sx="100000" sy="100000" kx="0" ky="0" algn="bl" rotWithShape="0" blurRad="88900" dist="25400" dir="5400000">
              <a:srgbClr val="C9BBAA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80260" y="2423160"/>
            <a:ext cx="914400" cy="91440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6" name="Text 4"/>
          <p:cNvSpPr/>
          <p:nvPr/>
        </p:nvSpPr>
        <p:spPr>
          <a:xfrm>
            <a:off x="208026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6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813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43891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501(c)(3), open counseling certification, and secure lending relationships (FCLF).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0" y="2057400"/>
            <a:ext cx="3429000" cy="3886200"/>
          </a:xfrm>
          <a:prstGeom prst="roundRect">
            <a:avLst>
              <a:gd name="adj" fmla="val 2667"/>
            </a:avLst>
          </a:prstGeom>
          <a:solidFill>
            <a:srgbClr val="FBF8F2"/>
          </a:solidFill>
          <a:ln w="12700">
            <a:solidFill>
              <a:srgbClr val="E4DACB"/>
            </a:solidFill>
            <a:prstDash val="solid"/>
          </a:ln>
          <a:effectLst>
            <a:outerShdw sx="100000" sy="100000" kx="0" ky="0" algn="bl" rotWithShape="0" blurRad="88900" dist="25400" dir="5400000">
              <a:srgbClr val="C9BBAA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29300" y="2423160"/>
            <a:ext cx="914400" cy="914400"/>
          </a:xfrm>
          <a:prstGeom prst="ellipse">
            <a:avLst/>
          </a:prstGeom>
          <a:solidFill>
            <a:srgbClr val="7C8B6F"/>
          </a:solidFill>
          <a:ln/>
        </p:spPr>
      </p:sp>
      <p:sp>
        <p:nvSpPr>
          <p:cNvPr id="12" name="Text 10"/>
          <p:cNvSpPr/>
          <p:nvPr/>
        </p:nvSpPr>
        <p:spPr>
          <a:xfrm>
            <a:off x="582930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46320" y="3474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C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813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Assets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92040" y="43891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the initial 4-plex and site the first charging infrastructure as proof of model.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321040" y="2057400"/>
            <a:ext cx="3429000" cy="3886200"/>
          </a:xfrm>
          <a:prstGeom prst="roundRect">
            <a:avLst>
              <a:gd name="adj" fmla="val 2667"/>
            </a:avLst>
          </a:prstGeom>
          <a:solidFill>
            <a:srgbClr val="FBF8F2"/>
          </a:solidFill>
          <a:ln w="12700">
            <a:solidFill>
              <a:srgbClr val="E4DACB"/>
            </a:solidFill>
            <a:prstDash val="solid"/>
          </a:ln>
          <a:effectLst>
            <a:outerShdw sx="100000" sy="100000" kx="0" ky="0" algn="bl" rotWithShape="0" blurRad="88900" dist="25400" dir="5400000">
              <a:srgbClr val="C9BBAA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78340" y="2423160"/>
            <a:ext cx="914400" cy="914400"/>
          </a:xfrm>
          <a:prstGeom prst="ellipse">
            <a:avLst/>
          </a:prstGeom>
          <a:solidFill>
            <a:srgbClr val="47243D"/>
          </a:solidFill>
          <a:ln/>
        </p:spPr>
      </p:sp>
      <p:sp>
        <p:nvSpPr>
          <p:cNvPr id="18" name="Text 16"/>
          <p:cNvSpPr/>
          <p:nvPr/>
        </p:nvSpPr>
        <p:spPr>
          <a:xfrm>
            <a:off x="957834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595360" y="3474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7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95360" y="3813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41080" y="43891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 returns into additional units and district partnerships to compound community equity.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7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Roadmap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C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week's filings to a multi-year acquisition horizon.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63040" y="2148840"/>
            <a:ext cx="0" cy="3977640"/>
          </a:xfrm>
          <a:prstGeom prst="line">
            <a:avLst/>
          </a:prstGeom>
          <a:noFill/>
          <a:ln w="25400">
            <a:solidFill>
              <a:srgbClr val="C697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6736" y="2148840"/>
            <a:ext cx="292608" cy="292608"/>
          </a:xfrm>
          <a:prstGeom prst="ellipse">
            <a:avLst/>
          </a:prstGeom>
          <a:solidFill>
            <a:srgbClr val="C6972F"/>
          </a:solidFill>
          <a:ln w="25400">
            <a:solidFill>
              <a:srgbClr val="4724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2075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C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74520" y="2459736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IRS Form 1023 · Begin NACA counseling certification · Open FCLF Florida lending contact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16736" y="3136392"/>
            <a:ext cx="292608" cy="292608"/>
          </a:xfrm>
          <a:prstGeom prst="ellipse">
            <a:avLst/>
          </a:prstGeom>
          <a:solidFill>
            <a:srgbClr val="E4C57A"/>
          </a:solidFill>
          <a:ln w="25400">
            <a:solidFill>
              <a:srgbClr val="4724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C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Quarter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4520" y="3447288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charging-infrastructure feasibility &amp; Supercharger siting analysis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16736" y="4123944"/>
            <a:ext cx="292608" cy="292608"/>
          </a:xfrm>
          <a:prstGeom prst="ellipse">
            <a:avLst/>
          </a:prstGeom>
          <a:solidFill>
            <a:srgbClr val="7C8B6F"/>
          </a:solidFill>
          <a:ln w="25400">
            <a:solidFill>
              <a:srgbClr val="4724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4050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C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12–18 Months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74520" y="44348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first 4-plex acquisition as proof of the ownership model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16736" y="5111496"/>
            <a:ext cx="292608" cy="292608"/>
          </a:xfrm>
          <a:prstGeom prst="ellipse">
            <a:avLst/>
          </a:prstGeom>
          <a:solidFill>
            <a:srgbClr val="E4C57A"/>
          </a:solidFill>
          <a:ln w="25400">
            <a:solidFill>
              <a:srgbClr val="4724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5038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C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Ongoing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4520" y="542239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Gas Plant District alignment — positioned and active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6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ties back to a family.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47243D"/>
          </a:solidFill>
          <a:ln/>
          <a:effectLst>
            <a:outerShdw sx="100000" sy="100000" kx="0" ky="0" algn="bl" rotWithShape="0" blurRad="101600" dist="38100" dir="5400000">
              <a:srgbClr val="B9A99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9718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C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080260" y="3886200"/>
            <a:ext cx="914400" cy="0"/>
          </a:xfrm>
          <a:prstGeom prst="line">
            <a:avLst/>
          </a:prstGeom>
          <a:noFill/>
          <a:ln w="19050">
            <a:solidFill>
              <a:srgbClr val="C69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0690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from renting toward ownership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22860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47243D"/>
          </a:solidFill>
          <a:ln/>
          <a:effectLst>
            <a:outerShdw sx="100000" sy="100000" kx="0" ky="0" algn="bl" rotWithShape="0" blurRad="101600" dist="38100" dir="5400000">
              <a:srgbClr val="B9A99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29718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C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$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829300" y="3886200"/>
            <a:ext cx="914400" cy="0"/>
          </a:xfrm>
          <a:prstGeom prst="line">
            <a:avLst/>
          </a:prstGeom>
          <a:noFill/>
          <a:ln w="19050">
            <a:solidFill>
              <a:srgbClr val="C697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40690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recirculated inside the community, not extracted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22860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47243D"/>
          </a:solidFill>
          <a:ln/>
          <a:effectLst>
            <a:outerShdw sx="100000" sy="100000" kx="0" ky="0" algn="bl" rotWithShape="0" blurRad="101600" dist="38100" dir="5400000">
              <a:srgbClr val="B9A99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0" y="29718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C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Roots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578340" y="3886200"/>
            <a:ext cx="914400" cy="0"/>
          </a:xfrm>
          <a:prstGeom prst="line">
            <a:avLst/>
          </a:prstGeom>
          <a:noFill/>
          <a:ln w="19050">
            <a:solidFill>
              <a:srgbClr val="C697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40690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to a historically displaced neighborhood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Partnership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6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inviting you to build with us.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8138160" cy="1143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2700">
            <a:solidFill>
              <a:srgbClr val="E4DACB"/>
            </a:solidFill>
            <a:prstDash val="solid"/>
          </a:ln>
          <a:effectLst>
            <a:outerShdw sx="100000" sy="100000" kx="0" ky="0" algn="bl" rotWithShape="0" blurRad="76200" dist="25400" dir="5400000">
              <a:srgbClr val="C9BB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22576"/>
            <a:ext cx="713232" cy="713232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225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57400" y="230428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Partners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057400" y="270662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Mission-aligned investment and lending to fund the first assets.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8138160" cy="1143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2700">
            <a:solidFill>
              <a:srgbClr val="E4DACB"/>
            </a:solidFill>
            <a:prstDash val="solid"/>
          </a:ln>
          <a:effectLst>
            <a:outerShdw sx="100000" sy="100000" kx="0" ky="0" algn="bl" rotWithShape="0" blurRad="76200" dist="25400" dir="5400000">
              <a:srgbClr val="C9BBA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3648456"/>
            <a:ext cx="713232" cy="713232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6484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57400" y="363016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Allies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057400" y="403250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district, and civic partners to align on the Gas Plant vision.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8138160" cy="1143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2700">
            <a:solidFill>
              <a:srgbClr val="E4DACB"/>
            </a:solidFill>
            <a:prstDash val="solid"/>
          </a:ln>
          <a:effectLst>
            <a:outerShdw sx="100000" sy="100000" kx="0" ky="0" algn="bl" rotWithShape="0" blurRad="76200" dist="25400" dir="5400000">
              <a:srgbClr val="C9BBA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4974336"/>
            <a:ext cx="713232" cy="713232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9743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057400" y="495604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7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Advisors &amp; Stewards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057400" y="535838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financial, and community leaders to guide governance.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189720" y="2103120"/>
            <a:ext cx="2148840" cy="3977640"/>
          </a:xfrm>
          <a:prstGeom prst="roundRect">
            <a:avLst>
              <a:gd name="adj" fmla="val 4255"/>
            </a:avLst>
          </a:prstGeom>
          <a:solidFill>
            <a:srgbClr val="47243D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24688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i="1" dirty="0">
                <a:solidFill>
                  <a:srgbClr val="E4C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the future into the present.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646920" y="4617720"/>
            <a:ext cx="1234440" cy="0"/>
          </a:xfrm>
          <a:prstGeom prst="line">
            <a:avLst/>
          </a:prstGeom>
          <a:noFill/>
          <a:ln w="19050">
            <a:solidFill>
              <a:srgbClr val="C697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47548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execute.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7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291840"/>
            <a:ext cx="6035040" cy="6035040"/>
          </a:xfrm>
          <a:prstGeom prst="ellipse">
            <a:avLst/>
          </a:prstGeom>
          <a:ln w="12700">
            <a:solidFill>
              <a:srgbClr val="C6972F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C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Living Compass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pPr indent="0" marL="0">
              <a:buNone/>
            </a:pPr>
            <a:r>
              <a:rPr lang="en-US" sz="3400" b="1" dirty="0">
                <a:solidFill>
                  <a:srgbClr val="C6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34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</a:t>
            </a:r>
            <a:pPr indent="0" marL="0">
              <a:buNone/>
            </a:pPr>
            <a:r>
              <a:rPr lang="en-US" sz="3400" b="1" dirty="0">
                <a:solidFill>
                  <a:srgbClr val="C6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34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pPr indent="0" marL="0">
              <a:buNone/>
            </a:pPr>
            <a:r>
              <a:rPr lang="en-US" sz="3400" b="1" dirty="0">
                <a:solidFill>
                  <a:srgbClr val="C6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34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pPr indent="0" marL="0">
              <a:buNone/>
            </a:pPr>
            <a:r>
              <a:rPr lang="en-US" sz="3400" b="1" dirty="0">
                <a:solidFill>
                  <a:srgbClr val="C6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34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7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is built. The future is shown. Now we partner to secure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4709160"/>
            <a:ext cx="2926080" cy="0"/>
          </a:xfrm>
          <a:prstGeom prst="line">
            <a:avLst/>
          </a:prstGeom>
          <a:noFill/>
          <a:ln w="19050">
            <a:solidFill>
              <a:srgbClr val="C69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E4C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HALLELUJAH ONE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Hallelujah Ministries  ·  Faith. Capital. Community. Built as one.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Hallelujah 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Hallelujah ONE — Stakeholder Presentation</dc:title>
  <dc:subject>PptxGenJS Presentation</dc:subject>
  <dc:creator>Hallelujah Ministries</dc:creator>
  <cp:lastModifiedBy>Hallelujah Ministries</cp:lastModifiedBy>
  <cp:revision>1</cp:revision>
  <dcterms:created xsi:type="dcterms:W3CDTF">2026-08-01T22:22:07Z</dcterms:created>
  <dcterms:modified xsi:type="dcterms:W3CDTF">2026-08-01T22:22:07Z</dcterms:modified>
</cp:coreProperties>
</file>